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5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소스 추출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설계 및 검증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41148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80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>
                <a:solidFill>
                  <a:srgbClr val="9CA3AF"/>
                </a:solidFill>
              </a:rPr>
              <a:t>Content Studio  |  </a:t>
            </a:r>
            <a:r>
              <a:rPr lang="en-US" altLang="ko-KR" sz="1400" dirty="0" err="1">
                <a:solidFill>
                  <a:srgbClr val="9CA3AF"/>
                </a:solidFill>
              </a:rPr>
              <a:t>자막</a:t>
            </a:r>
            <a:r>
              <a:rPr lang="en-US" altLang="ko-KR" sz="1400" dirty="0">
                <a:solidFill>
                  <a:srgbClr val="9CA3AF"/>
                </a:solidFill>
              </a:rPr>
              <a:t> </a:t>
            </a:r>
            <a:r>
              <a:rPr lang="en-US" altLang="ko-KR" sz="1400" dirty="0" err="1">
                <a:solidFill>
                  <a:srgbClr val="9CA3AF"/>
                </a:solidFill>
              </a:rPr>
              <a:t>없는</a:t>
            </a:r>
            <a:r>
              <a:rPr lang="en-US" altLang="ko-KR" sz="1400" dirty="0">
                <a:solidFill>
                  <a:srgbClr val="9CA3AF"/>
                </a:solidFill>
              </a:rPr>
              <a:t> </a:t>
            </a:r>
            <a:r>
              <a:rPr lang="en-US" altLang="ko-KR" sz="1400" dirty="0" err="1">
                <a:solidFill>
                  <a:srgbClr val="9CA3AF"/>
                </a:solidFill>
              </a:rPr>
              <a:t>영상</a:t>
            </a:r>
            <a:r>
              <a:rPr lang="en-US" altLang="ko-KR" sz="1400" dirty="0">
                <a:solidFill>
                  <a:srgbClr val="9CA3AF"/>
                </a:solidFill>
              </a:rPr>
              <a:t> </a:t>
            </a:r>
            <a:r>
              <a:rPr lang="en-US" altLang="ko-KR" sz="1400" dirty="0" err="1">
                <a:solidFill>
                  <a:srgbClr val="9CA3AF"/>
                </a:solidFill>
              </a:rPr>
              <a:t>소스화</a:t>
            </a:r>
            <a:r>
              <a:rPr lang="en-US" altLang="ko-KR" sz="1400" dirty="0">
                <a:solidFill>
                  <a:srgbClr val="9CA3AF"/>
                </a:solidFill>
              </a:rPr>
              <a:t> </a:t>
            </a:r>
            <a:r>
              <a:rPr lang="en-US" altLang="ko-KR" sz="1400" dirty="0" err="1" smtClean="0">
                <a:solidFill>
                  <a:srgbClr val="9CA3AF"/>
                </a:solidFill>
              </a:rPr>
              <a:t>PoC</a:t>
            </a:r>
            <a:endParaRPr lang="en-US" altLang="ko-KR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  배경 및 목적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857873"/>
            <a:ext cx="3977640" cy="39776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현재의 한계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356616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54480"/>
            <a:ext cx="36576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Content Studio 현황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YouTube 소스 추출 시 자막 스크립트에 전적으로 의존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36576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핵심 문제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자막이 없는 영상은 소스 추출 불가 → 콘텐츠 생성 범위 제한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57873"/>
            <a:ext cx="416052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PoC 목적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28032" y="1389888"/>
            <a:ext cx="374904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8"/>
          <p:cNvSpPr/>
          <p:nvPr/>
        </p:nvSpPr>
        <p:spPr>
          <a:xfrm>
            <a:off x="4828032" y="1563624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1563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93208" y="1508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범용 소스 추출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93208" y="1783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F2937"/>
                </a:solidFill>
              </a:rPr>
              <a:t>자막</a:t>
            </a:r>
            <a:r>
              <a:rPr lang="en-US" sz="1000" dirty="0">
                <a:solidFill>
                  <a:srgbClr val="1F2937"/>
                </a:solidFill>
              </a:rPr>
              <a:t> </a:t>
            </a:r>
            <a:r>
              <a:rPr lang="en-US" sz="1000" dirty="0" err="1" smtClean="0">
                <a:solidFill>
                  <a:srgbClr val="1F2937"/>
                </a:solidFill>
              </a:rPr>
              <a:t>유무</a:t>
            </a:r>
            <a:r>
              <a:rPr lang="ko-KR" altLang="en-US" sz="1000" dirty="0" smtClean="0">
                <a:solidFill>
                  <a:srgbClr val="1F2937"/>
                </a:solidFill>
              </a:rPr>
              <a:t>와 </a:t>
            </a:r>
            <a:r>
              <a:rPr lang="en-US" sz="1000" dirty="0" err="1" smtClean="0">
                <a:solidFill>
                  <a:srgbClr val="1F2937"/>
                </a:solidFill>
              </a:rPr>
              <a:t>관계없이</a:t>
            </a:r>
            <a:r>
              <a:rPr lang="en-US" sz="1000" dirty="0" smtClean="0">
                <a:solidFill>
                  <a:srgbClr val="1F2937"/>
                </a:solidFill>
              </a:rPr>
              <a:t> </a:t>
            </a:r>
            <a:r>
              <a:rPr lang="en-US" sz="1000" dirty="0">
                <a:solidFill>
                  <a:srgbClr val="1F2937"/>
                </a:solidFill>
              </a:rPr>
              <a:t>의미 있는 소스를</a:t>
            </a:r>
            <a:endParaRPr lang="en-US" sz="1000" dirty="0"/>
          </a:p>
          <a:p>
            <a:pPr marL="0" indent="0">
              <a:buNone/>
            </a:pPr>
            <a:r>
              <a:rPr lang="en-US" sz="1000" dirty="0" err="1" smtClean="0">
                <a:solidFill>
                  <a:srgbClr val="1F2937"/>
                </a:solidFill>
              </a:rPr>
              <a:t>추출하는</a:t>
            </a:r>
            <a:r>
              <a:rPr lang="en-US" sz="1000" dirty="0" smtClean="0">
                <a:solidFill>
                  <a:srgbClr val="1F2937"/>
                </a:solidFill>
              </a:rPr>
              <a:t> </a:t>
            </a:r>
            <a:r>
              <a:rPr lang="en-US" sz="1000" dirty="0">
                <a:solidFill>
                  <a:srgbClr val="1F2937"/>
                </a:solidFill>
              </a:rPr>
              <a:t>파이프라인 설계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523744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93208" y="2468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실현 가능성 검증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93208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PoC를 </a:t>
            </a:r>
            <a:r>
              <a:rPr lang="en-US" sz="1000" dirty="0" err="1">
                <a:solidFill>
                  <a:srgbClr val="1F2937"/>
                </a:solidFill>
              </a:rPr>
              <a:t>통해</a:t>
            </a:r>
            <a:r>
              <a:rPr lang="en-US" sz="1000" dirty="0">
                <a:solidFill>
                  <a:srgbClr val="1F2937"/>
                </a:solidFill>
              </a:rPr>
              <a:t> </a:t>
            </a:r>
            <a:r>
              <a:rPr lang="ko-KR" altLang="en-US" sz="1000" dirty="0" smtClean="0">
                <a:solidFill>
                  <a:srgbClr val="1F2937"/>
                </a:solidFill>
              </a:rPr>
              <a:t>소스</a:t>
            </a:r>
            <a:r>
              <a:rPr lang="en-US" sz="1000" dirty="0" smtClean="0">
                <a:solidFill>
                  <a:srgbClr val="1F2937"/>
                </a:solidFill>
              </a:rPr>
              <a:t> </a:t>
            </a:r>
            <a:r>
              <a:rPr lang="en-US" sz="1000" dirty="0">
                <a:solidFill>
                  <a:srgbClr val="1F2937"/>
                </a:solidFill>
              </a:rPr>
              <a:t>품질·비용 효율성·레이턴시 검증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483864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3483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93208" y="3429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모델 비교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93208" y="3703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STT/Vision 혼합 파이프라인 vs. Gemini 단독 분석 비교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  핵심 설계 전략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458200" cy="9601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804672"/>
            <a:ext cx="45720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804672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</a:rPr>
              <a:t>Q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87552" y="85953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왜 Gemini 단독 멀티모달 처리를 사용하지 않는가?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1430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소스의 목적은 요약이 아닌 원본 발화를 타임라인 순서대로 텍스트화하는 것. Gemini 단일 처리는 모델 자체의 요약·압축이 개입될 여지가 있어 이 목적에 적합하지 않다고 판단.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920240"/>
            <a:ext cx="411480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920240"/>
            <a:ext cx="4114800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9202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왜 발화 음성(STT)이 핵심 소스인가?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2450592"/>
            <a:ext cx="64008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4505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직접성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61872" y="2346267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영상에서 전달하고자 하는 정보를 가장 직접적으로 담고 있는 것이 화자의 발화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3209544"/>
            <a:ext cx="64008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2095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무손실성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61872" y="3095244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STT 전사 결과는 발화 내용을 압축 없이 텍스트로 재현 → 콘텐츠 재생산의 중심 소스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3968496"/>
            <a:ext cx="640080" cy="2377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9684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 smtClean="0">
                <a:solidFill>
                  <a:srgbClr val="FFFFFF"/>
                </a:solidFill>
              </a:rPr>
              <a:t>타임라인</a:t>
            </a:r>
            <a:r>
              <a:rPr lang="en-US" sz="900" b="1" dirty="0" smtClean="0">
                <a:solidFill>
                  <a:srgbClr val="FFFFFF"/>
                </a:solidFill>
              </a:rPr>
              <a:t>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61872" y="38450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어느 시점에 어떤 내용이 전달됐는지 순서 그대로 담겨야 이후 콘텐츠 생성에 활용 가능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27448" y="192024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1920240"/>
            <a:ext cx="4114800" cy="42062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19202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설계 방향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73752" y="2468880"/>
            <a:ext cx="256032" cy="256032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93792" y="24505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STT 전사 중심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93792" y="27249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발화 음성 비율(speech_ratio) 기준으로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케이스 분류 후 소스 확정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73752" y="3227832"/>
            <a:ext cx="256032" cy="256032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02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93792" y="32095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선택적 Vision 분석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93792" y="348386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음성 </a:t>
            </a:r>
            <a:r>
              <a:rPr lang="en-US" sz="1000" dirty="0" err="1">
                <a:solidFill>
                  <a:srgbClr val="6B7280"/>
                </a:solidFill>
              </a:rPr>
              <a:t>부족</a:t>
            </a:r>
            <a:r>
              <a:rPr lang="en-US" sz="1000" dirty="0">
                <a:solidFill>
                  <a:srgbClr val="6B7280"/>
                </a:solidFill>
              </a:rPr>
              <a:t> </a:t>
            </a:r>
            <a:r>
              <a:rPr lang="en-US" sz="1000" dirty="0" err="1" smtClean="0">
                <a:solidFill>
                  <a:srgbClr val="6B7280"/>
                </a:solidFill>
              </a:rPr>
              <a:t>구간</a:t>
            </a:r>
            <a:r>
              <a:rPr lang="en-US" sz="1000" dirty="0" smtClean="0">
                <a:solidFill>
                  <a:srgbClr val="6B7280"/>
                </a:solidFill>
              </a:rPr>
              <a:t> </a:t>
            </a:r>
            <a:r>
              <a:rPr lang="en-US" sz="1000" dirty="0">
                <a:solidFill>
                  <a:srgbClr val="6B7280"/>
                </a:solidFill>
              </a:rPr>
              <a:t>Vision </a:t>
            </a:r>
            <a:r>
              <a:rPr lang="en-US" sz="1000" dirty="0" err="1" smtClean="0">
                <a:solidFill>
                  <a:srgbClr val="6B7280"/>
                </a:solidFill>
              </a:rPr>
              <a:t>호출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73752" y="3986784"/>
            <a:ext cx="256032" cy="256032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93792" y="39684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Gemini 방식과 비교 검증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93792" y="424281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PoC에서 단독 처리 방식 대비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출력 품질·비용·속도 비교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  전체 파이프라인 구조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822960"/>
            <a:ext cx="276148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22960"/>
            <a:ext cx="276148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8229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987552"/>
            <a:ext cx="18288" cy="2560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822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자막 추출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CA3AF"/>
                </a:solidFill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156362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563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3816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YouTube URL에서 자막 추출 시도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31343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13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13816" y="2258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품질 평가: 글자 수·기호 비율·반복도 분석 후 점수 산정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06324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063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3816" y="30083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기준 충족 시 → Case A 소스 즉시 확정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" y="4526280"/>
            <a:ext cx="2487168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45262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최저 비용, 최고 품질 경로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82696" y="822960"/>
            <a:ext cx="276148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82696" y="822960"/>
            <a:ext cx="2761488" cy="56692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4" name="Text 22"/>
          <p:cNvSpPr/>
          <p:nvPr/>
        </p:nvSpPr>
        <p:spPr>
          <a:xfrm>
            <a:off x="3419856" y="8229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97096" y="987552"/>
            <a:ext cx="18288" cy="2560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270248" y="822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분석 분기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53328" y="25603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CA3AF"/>
                </a:solidFill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465576" y="156362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3465576" y="1563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12464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자막 없거나 불량 → 영상 길이 확인 후 다운로드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65576" y="231343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3465576" y="2313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12464" y="2258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오디오 </a:t>
            </a:r>
            <a:r>
              <a:rPr lang="en-US" sz="1000" dirty="0" err="1">
                <a:solidFill>
                  <a:srgbClr val="1F2937"/>
                </a:solidFill>
              </a:rPr>
              <a:t>추출</a:t>
            </a:r>
            <a:r>
              <a:rPr lang="en-US" sz="1000" dirty="0">
                <a:solidFill>
                  <a:srgbClr val="1F2937"/>
                </a:solidFill>
              </a:rPr>
              <a:t> </a:t>
            </a:r>
            <a:r>
              <a:rPr lang="en-US" sz="1000" dirty="0" smtClean="0">
                <a:solidFill>
                  <a:srgbClr val="1F2937"/>
                </a:solidFill>
              </a:rPr>
              <a:t>+  </a:t>
            </a:r>
            <a:r>
              <a:rPr lang="en-US" sz="1000" dirty="0">
                <a:solidFill>
                  <a:srgbClr val="1F2937"/>
                </a:solidFill>
              </a:rPr>
              <a:t>STT 수행 및 필터링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65576" y="306324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3465576" y="3063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712464" y="30083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speech_ratio / suspect_ratio </a:t>
            </a:r>
            <a:r>
              <a:rPr lang="en-US" sz="1000" dirty="0" err="1">
                <a:solidFill>
                  <a:srgbClr val="1F2937"/>
                </a:solidFill>
              </a:rPr>
              <a:t>기반</a:t>
            </a:r>
            <a:r>
              <a:rPr lang="en-US" sz="1000" dirty="0">
                <a:solidFill>
                  <a:srgbClr val="1F2937"/>
                </a:solidFill>
              </a:rPr>
              <a:t> </a:t>
            </a:r>
            <a:r>
              <a:rPr lang="en-US" sz="1000" dirty="0" smtClean="0">
                <a:solidFill>
                  <a:srgbClr val="1F2937"/>
                </a:solidFill>
              </a:rPr>
              <a:t> </a:t>
            </a:r>
            <a:r>
              <a:rPr lang="en-US" sz="1000" dirty="0">
                <a:solidFill>
                  <a:srgbClr val="1F2937"/>
                </a:solidFill>
              </a:rPr>
              <a:t>케이스 분기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19856" y="4526280"/>
            <a:ext cx="2487168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3419856" y="45262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B · C · D 케이스별 최적 경로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81344" y="822960"/>
            <a:ext cx="276148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81344" y="822960"/>
            <a:ext cx="2761488" cy="56692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1" name="Text 39"/>
          <p:cNvSpPr/>
          <p:nvPr/>
        </p:nvSpPr>
        <p:spPr>
          <a:xfrm>
            <a:off x="6318504" y="8229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95744" y="987552"/>
            <a:ext cx="18288" cy="2560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168896" y="822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캐싱 &amp; 정리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364224" y="156362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6364224" y="15636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611112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URL ↔ 소스 텍스트 매핑 후 캐시 저장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64224" y="231343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6364224" y="2313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611112" y="2258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동일 URL 재요청 시 즉시 반환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64224" y="306324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6364224" y="3063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611112" y="30083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다운로드 영상 · 오디오 파일 즉시 삭제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18504" y="4526280"/>
            <a:ext cx="2487168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4" name="Text 52"/>
          <p:cNvSpPr/>
          <p:nvPr/>
        </p:nvSpPr>
        <p:spPr>
          <a:xfrm>
            <a:off x="6318504" y="45262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50" b="1" dirty="0" smtClean="0">
                <a:solidFill>
                  <a:srgbClr val="2563EB"/>
                </a:solidFill>
              </a:rPr>
              <a:t>모델 호출 </a:t>
            </a:r>
            <a:r>
              <a:rPr lang="en-US" sz="950" b="1" dirty="0" err="1" smtClean="0">
                <a:solidFill>
                  <a:srgbClr val="2563EB"/>
                </a:solidFill>
              </a:rPr>
              <a:t>비용</a:t>
            </a:r>
            <a:r>
              <a:rPr lang="en-US" sz="950" b="1" dirty="0" smtClean="0">
                <a:solidFill>
                  <a:srgbClr val="2563EB"/>
                </a:solidFill>
              </a:rPr>
              <a:t> </a:t>
            </a:r>
            <a:r>
              <a:rPr lang="en-US" sz="950" b="1" dirty="0">
                <a:solidFill>
                  <a:srgbClr val="2563EB"/>
                </a:solidFill>
              </a:rPr>
              <a:t>중복 방지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04  </a:t>
            </a:r>
            <a:r>
              <a:rPr lang="en-US" sz="1600" b="1" dirty="0">
                <a:solidFill>
                  <a:srgbClr val="FFFFFF"/>
                </a:solidFill>
              </a:rPr>
              <a:t>STT 모델 선정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45820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8275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선정 모델 : </a:t>
            </a:r>
            <a:r>
              <a:rPr lang="en-US" sz="1100" b="1" dirty="0">
                <a:solidFill>
                  <a:srgbClr val="2563EB"/>
                </a:solidFill>
              </a:rPr>
              <a:t>OpenAI Whisper-1  ($0.006 / 분)</a:t>
            </a:r>
            <a:r>
              <a:rPr lang="en-US" sz="1100" dirty="0">
                <a:solidFill>
                  <a:srgbClr val="6B7280"/>
                </a:solidFill>
              </a:rPr>
              <a:t>   |   세그먼트 단위 타임스탬프 + no_speech_prob 제공으로 파이프라인 요건에 최적화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335024"/>
            <a:ext cx="8458200" cy="3474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350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모델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133502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비용 / 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59352" y="13350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타임스탬프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39512" y="13350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신뢰도 지표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48550" y="1335024"/>
            <a:ext cx="14485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특징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682496"/>
            <a:ext cx="84582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682496"/>
            <a:ext cx="4572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170078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Whisper-1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78608" y="17007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</a:rPr>
              <a:t>$0.006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77640" y="170078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</a:rPr>
              <a:t>✓ 지원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57800" y="170078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</a:rPr>
              <a:t>no_speech_prob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0" y="170078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 smtClean="0">
                <a:solidFill>
                  <a:srgbClr val="2563EB"/>
                </a:solidFill>
              </a:rPr>
              <a:t>세그먼트 단위 구조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2157984"/>
            <a:ext cx="845820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1762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GPT-4o-mini-transcribe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78608" y="217627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$0.003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977640" y="217627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✗ 미지원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57800" y="21762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미지원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0" y="217627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LLM 기반 전사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26680" y="217627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자연스러운 문장 구성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2633472"/>
            <a:ext cx="8458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26517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Azure Speech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78608" y="26517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$0.016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977640" y="265176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✓ 지원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57800" y="26517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confidence score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83680" y="26517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커스터마이징 강점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26680" y="26517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엔터프라이즈 특화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" y="3108960"/>
            <a:ext cx="8458200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12724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Google STT v2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78608" y="312724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$0.016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977640" y="312724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단어 단위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57800" y="31272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confidence score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83680" y="31272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스트리밍 강점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726680" y="31272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다화자 처리 우수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" y="4526280"/>
            <a:ext cx="845820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45262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선정 이유  </a:t>
            </a:r>
            <a:r>
              <a:rPr lang="en-US" sz="1000" dirty="0">
                <a:solidFill>
                  <a:srgbClr val="1F2937"/>
                </a:solidFill>
              </a:rPr>
              <a:t>speech_ratio 산정 및 무음 구간 탐지를 위해 세그먼트 단위 타임스탬프 확보가 핵심 전제 조건. no_speech_prob으로 비발화 구간 필터링 가능. </a:t>
            </a:r>
            <a:r>
              <a:rPr lang="en-US" sz="1000" dirty="0">
                <a:solidFill>
                  <a:srgbClr val="6B7280"/>
                </a:solidFill>
              </a:rPr>
              <a:t>※ VAD + 최신 STT 모델 조합 방식은 비용·정확도 측면에서 잠재적 우위가 있어 PoC에서 추가 검토 예정.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05  </a:t>
            </a:r>
            <a:r>
              <a:rPr lang="en-US" sz="1600" b="1" dirty="0">
                <a:solidFill>
                  <a:srgbClr val="FFFFFF"/>
                </a:solidFill>
              </a:rPr>
              <a:t>Vision 모델 선정 (PoC 비교 대상)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458200" cy="502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804672"/>
            <a:ext cx="457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22960"/>
            <a:ext cx="8302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Vision 분석의 역할 : 음성이 없거나 부족한 구간에서 화면의 흐름을 파악하고 시각 정보를 문맥에 맞게 서술. 깊은 추론·요약이 아닌 시각 정보를 충실하게 언어로 변환하는 수준의 태스크이므로 고비용 모델의 추론 능력이 실질적 이점으로 작용하지 않음.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1444752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444752"/>
            <a:ext cx="416052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GPT-4o-mini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27248" y="1572768"/>
            <a:ext cx="1261872" cy="21945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127248" y="15727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프레임 제어 방식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029968"/>
            <a:ext cx="8229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29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입력 방식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44752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직접 프레임 추출 후 이미지로 입력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15768"/>
            <a:ext cx="8229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157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비용 제어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44752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중복 프레임 차분값 비교로 유사 프레임 제거 → 비용 최적화 가능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8229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015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예측 가능성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44752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프레임 수 직접 통제로 비용 예측 용이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87368"/>
            <a:ext cx="8229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873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적합 케이스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44752" y="4069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Case B (전체 영상), Case D (무음 구간 선택 프레임)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27448" y="1444752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1444752"/>
            <a:ext cx="4160520" cy="47548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Gemini 2.0 Flash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70648" y="1572768"/>
            <a:ext cx="1261872" cy="21945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470648" y="15727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영상 직접 업로드 방식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92040" y="2029968"/>
            <a:ext cx="8229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029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입력 방식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88152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영상 파일 직접 업로드 후 타임스탬프 기반 구간 질의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2715768"/>
            <a:ext cx="8229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7157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처리 효율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88152" y="2697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프레임 추출·인코딩 과정 불필요, 다수 구간 일괄 처리 가능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401568"/>
            <a:ext cx="8229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4015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네이티브 멀티모달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88152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음성·시각 정보 동시 처리 지원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4087368"/>
            <a:ext cx="8229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40873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적합 케이스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88152" y="4069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Case B (영상 업로드), Case D (무음 구간 타임스탬프 질의)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" y="4645152"/>
            <a:ext cx="8458200" cy="274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→ PoC 실데이터 기반 품질·비용·속도 비교 후 최적 모델 선정. 두 모델 모두 입력 방식이 달라 실측 비교가 의미 있음.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mtClean="0">
                <a:solidFill>
                  <a:srgbClr val="FFFFFF"/>
                </a:solidFill>
              </a:rPr>
              <a:t>06  </a:t>
            </a:r>
            <a:r>
              <a:rPr lang="en-US" sz="1600" b="1" dirty="0">
                <a:solidFill>
                  <a:srgbClr val="FFFFFF"/>
                </a:solidFill>
              </a:rPr>
              <a:t>STT 지표 기반 4-Way 케이스 분기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795528"/>
            <a:ext cx="845820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95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R (Speech Ratio)</a:t>
            </a:r>
            <a:r>
              <a:rPr lang="en-US" sz="1100" dirty="0">
                <a:solidFill>
                  <a:srgbClr val="6B7280"/>
                </a:solidFill>
              </a:rPr>
              <a:t> : 영상 전체 길이 대비 발화 음성 비율          </a:t>
            </a:r>
            <a:r>
              <a:rPr lang="en-US" sz="1100" b="1" dirty="0">
                <a:solidFill>
                  <a:srgbClr val="111827"/>
                </a:solidFill>
              </a:rPr>
              <a:t>S (Suspect Ratio)</a:t>
            </a:r>
            <a:r>
              <a:rPr lang="en-US" sz="1100" dirty="0">
                <a:solidFill>
                  <a:srgbClr val="6B7280"/>
                </a:solidFill>
              </a:rPr>
              <a:t> : 전사 결과 중 품질 의심 세그먼트 비율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481328"/>
            <a:ext cx="202996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481328"/>
            <a:ext cx="2029968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49047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Case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6479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Subtitle-based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3776" y="2103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조건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" y="23408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" y="23774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 smtClean="0">
                <a:solidFill>
                  <a:srgbClr val="1F2937"/>
                </a:solidFill>
              </a:rPr>
              <a:t>자막이 존재하고 품질 문제 없음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" y="3017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처리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" y="32552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" y="32918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자막 텍스트 → 최종 소스 즉시 확정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" y="3931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모델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" y="41696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" y="42062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51176" y="1481328"/>
            <a:ext cx="202996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51176" y="1481328"/>
            <a:ext cx="2029968" cy="5029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2" name="Text 20"/>
          <p:cNvSpPr/>
          <p:nvPr/>
        </p:nvSpPr>
        <p:spPr>
          <a:xfrm>
            <a:off x="2551176" y="149047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Case 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51176" y="176479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Vision-based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60904" y="2103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조건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60904" y="23408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2660904" y="23774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R &lt; 0.15</a:t>
            </a:r>
            <a:endParaRPr lang="en-US" sz="950" dirty="0"/>
          </a:p>
          <a:p>
            <a:pPr marL="0" indent="0">
              <a:buNone/>
            </a:pPr>
            <a:r>
              <a:rPr lang="en-US" sz="950" dirty="0" smtClean="0">
                <a:solidFill>
                  <a:srgbClr val="1F2937"/>
                </a:solidFill>
              </a:rPr>
              <a:t>(</a:t>
            </a:r>
            <a:r>
              <a:rPr lang="ko-KR" altLang="en-US" sz="950" dirty="0" smtClean="0">
                <a:solidFill>
                  <a:srgbClr val="1F2937"/>
                </a:solidFill>
              </a:rPr>
              <a:t>발화 </a:t>
            </a:r>
            <a:r>
              <a:rPr lang="en-US" sz="950" dirty="0" err="1" smtClean="0">
                <a:solidFill>
                  <a:srgbClr val="1F2937"/>
                </a:solidFill>
              </a:rPr>
              <a:t>음성</a:t>
            </a:r>
            <a:r>
              <a:rPr lang="en-US" sz="950" dirty="0" smtClean="0">
                <a:solidFill>
                  <a:srgbClr val="1F2937"/>
                </a:solidFill>
              </a:rPr>
              <a:t> </a:t>
            </a:r>
            <a:r>
              <a:rPr lang="en-US" sz="950" dirty="0">
                <a:solidFill>
                  <a:srgbClr val="1F2937"/>
                </a:solidFill>
              </a:rPr>
              <a:t>거의 없음)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60904" y="3017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처리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60904" y="32552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2660904" y="32918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영상 전체를 시각 분석하여 소스화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60904" y="3931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모델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60904" y="41696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2643032" y="426567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rgbClr val="1F2937"/>
                </a:solidFill>
              </a:rPr>
              <a:t> Whisper-1</a:t>
            </a:r>
            <a:br>
              <a:rPr lang="en-US" sz="950" dirty="0" smtClean="0">
                <a:solidFill>
                  <a:srgbClr val="1F2937"/>
                </a:solidFill>
              </a:rPr>
            </a:br>
            <a:r>
              <a:rPr lang="en-US" sz="950" dirty="0" smtClean="0">
                <a:solidFill>
                  <a:srgbClr val="1F2937"/>
                </a:solidFill>
              </a:rPr>
              <a:t/>
            </a:r>
            <a:br>
              <a:rPr lang="en-US" sz="950" dirty="0" smtClean="0">
                <a:solidFill>
                  <a:srgbClr val="1F2937"/>
                </a:solidFill>
              </a:rPr>
            </a:br>
            <a:r>
              <a:rPr lang="en-US" sz="950" dirty="0" smtClean="0">
                <a:solidFill>
                  <a:srgbClr val="1F2937"/>
                </a:solidFill>
              </a:rPr>
              <a:t>GPT-4o-mini</a:t>
            </a:r>
            <a:br>
              <a:rPr lang="en-US" sz="950" dirty="0" smtClean="0">
                <a:solidFill>
                  <a:srgbClr val="1F2937"/>
                </a:solidFill>
              </a:rPr>
            </a:br>
            <a:r>
              <a:rPr lang="ko-KR" altLang="en-US" sz="950" dirty="0" smtClean="0">
                <a:solidFill>
                  <a:srgbClr val="1F2937"/>
                </a:solidFill>
              </a:rPr>
              <a:t>또는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Gemini 2.0 Flash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18304" y="1481328"/>
            <a:ext cx="202996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18304" y="1481328"/>
            <a:ext cx="2029968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4718304" y="149047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Case 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18304" y="176479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Speech-based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28032" y="2103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조건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8032" y="23408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23774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R &gt; 0.50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S ≤ 0.35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28032" y="3017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처리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28032" y="32552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32918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STT 전사 텍스트를 최종 소스로 확정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28032" y="3931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모델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28032" y="41696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Text 43"/>
          <p:cNvSpPr/>
          <p:nvPr/>
        </p:nvSpPr>
        <p:spPr>
          <a:xfrm>
            <a:off x="4828032" y="42062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Whisper-1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85432" y="1481328"/>
            <a:ext cx="202996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85432" y="1481328"/>
            <a:ext cx="2029968" cy="5029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8" name="Text 46"/>
          <p:cNvSpPr/>
          <p:nvPr/>
        </p:nvSpPr>
        <p:spPr>
          <a:xfrm>
            <a:off x="6885432" y="149047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Case 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85432" y="176479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Hybrid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995160" y="2103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조건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95160" y="23408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2" name="Text 50"/>
          <p:cNvSpPr/>
          <p:nvPr/>
        </p:nvSpPr>
        <p:spPr>
          <a:xfrm>
            <a:off x="6995160" y="23774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 </a:t>
            </a:r>
            <a:r>
              <a:rPr lang="en-US" sz="950" dirty="0" smtClean="0">
                <a:solidFill>
                  <a:srgbClr val="1F2937"/>
                </a:solidFill>
              </a:rPr>
              <a:t>B</a:t>
            </a:r>
            <a:r>
              <a:rPr lang="ko-KR" altLang="en-US" sz="950" dirty="0" smtClean="0">
                <a:solidFill>
                  <a:srgbClr val="1F2937"/>
                </a:solidFill>
              </a:rPr>
              <a:t>와 </a:t>
            </a:r>
            <a:r>
              <a:rPr lang="en-US" altLang="ko-KR" sz="950" dirty="0" smtClean="0">
                <a:solidFill>
                  <a:srgbClr val="1F2937"/>
                </a:solidFill>
              </a:rPr>
              <a:t>C</a:t>
            </a:r>
            <a:r>
              <a:rPr lang="ko-KR" altLang="en-US" sz="950" dirty="0" smtClean="0">
                <a:solidFill>
                  <a:srgbClr val="1F2937"/>
                </a:solidFill>
              </a:rPr>
              <a:t>에 해당하지 않는 경우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95160" y="3017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처리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95160" y="32552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Text 53"/>
          <p:cNvSpPr/>
          <p:nvPr/>
        </p:nvSpPr>
        <p:spPr>
          <a:xfrm>
            <a:off x="6995160" y="32918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STT + 동적 임계값 이상 무음 구간에만 선택적 Vision 분석 후 타임라인 병합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995160" y="3931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A3AF"/>
                </a:solidFill>
              </a:rPr>
              <a:t>모델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995160" y="4169664"/>
            <a:ext cx="1810512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Text 30"/>
          <p:cNvSpPr/>
          <p:nvPr/>
        </p:nvSpPr>
        <p:spPr>
          <a:xfrm>
            <a:off x="6986016" y="425196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rgbClr val="1F2937"/>
                </a:solidFill>
              </a:rPr>
              <a:t> Whisper-1</a:t>
            </a:r>
            <a:br>
              <a:rPr lang="en-US" sz="950" dirty="0" smtClean="0">
                <a:solidFill>
                  <a:srgbClr val="1F2937"/>
                </a:solidFill>
              </a:rPr>
            </a:br>
            <a:r>
              <a:rPr lang="en-US" sz="950" dirty="0" smtClean="0">
                <a:solidFill>
                  <a:srgbClr val="1F2937"/>
                </a:solidFill>
              </a:rPr>
              <a:t/>
            </a:r>
            <a:br>
              <a:rPr lang="en-US" sz="950" dirty="0" smtClean="0">
                <a:solidFill>
                  <a:srgbClr val="1F2937"/>
                </a:solidFill>
              </a:rPr>
            </a:br>
            <a:r>
              <a:rPr lang="en-US" sz="950" dirty="0" smtClean="0">
                <a:solidFill>
                  <a:srgbClr val="1F2937"/>
                </a:solidFill>
              </a:rPr>
              <a:t>GPT-4o-mini</a:t>
            </a:r>
            <a:br>
              <a:rPr lang="en-US" sz="950" dirty="0" smtClean="0">
                <a:solidFill>
                  <a:srgbClr val="1F2937"/>
                </a:solidFill>
              </a:rPr>
            </a:br>
            <a:r>
              <a:rPr lang="ko-KR" altLang="en-US" sz="950" dirty="0" smtClean="0">
                <a:solidFill>
                  <a:srgbClr val="1F2937"/>
                </a:solidFill>
              </a:rPr>
              <a:t>또는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Gemini 2.0 Flash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  비용 통제 및 리소스 관리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4048" y="7772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Vision 분석은 파이프라인에서 비용이 </a:t>
            </a:r>
            <a:r>
              <a:rPr lang="en-US" sz="1100" dirty="0" err="1">
                <a:solidFill>
                  <a:srgbClr val="6B7280"/>
                </a:solidFill>
              </a:rPr>
              <a:t>가장</a:t>
            </a:r>
            <a:r>
              <a:rPr lang="en-US" sz="1100" dirty="0">
                <a:solidFill>
                  <a:srgbClr val="6B7280"/>
                </a:solidFill>
              </a:rPr>
              <a:t> </a:t>
            </a:r>
            <a:r>
              <a:rPr lang="ko-KR" altLang="en-US" sz="1100" dirty="0" smtClean="0">
                <a:solidFill>
                  <a:srgbClr val="6B7280"/>
                </a:solidFill>
              </a:rPr>
              <a:t>클 것으로 예측되는 구간</a:t>
            </a:r>
            <a:r>
              <a:rPr lang="en-US" sz="1100" dirty="0" smtClean="0">
                <a:solidFill>
                  <a:srgbClr val="6B7280"/>
                </a:solidFill>
              </a:rPr>
              <a:t> </a:t>
            </a:r>
            <a:r>
              <a:rPr lang="en-US" sz="1100" dirty="0">
                <a:solidFill>
                  <a:srgbClr val="6B7280"/>
                </a:solidFill>
              </a:rPr>
              <a:t>→ 다중 제어 장치 적용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88720"/>
            <a:ext cx="26334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88720"/>
            <a:ext cx="263347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53312"/>
            <a:ext cx="320040" cy="32004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1353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영상 길이 상한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PoC 단계에서 분석 가능한 최대 영상 길이 제한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자막 없는 경우 비용 과다 방지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334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188720"/>
            <a:ext cx="263347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3456432" y="1353312"/>
            <a:ext cx="320040" cy="32004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58768" y="1353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111827"/>
                </a:solidFill>
              </a:rPr>
              <a:t>Frame </a:t>
            </a:r>
            <a:r>
              <a:rPr lang="ko-KR" altLang="en-US" sz="1100" b="1" dirty="0" smtClean="0">
                <a:solidFill>
                  <a:srgbClr val="111827"/>
                </a:solidFill>
              </a:rPr>
              <a:t>제어 </a:t>
            </a:r>
            <a:r>
              <a:rPr lang="en-US" altLang="ko-KR" sz="1100" b="1" dirty="0" smtClean="0">
                <a:solidFill>
                  <a:srgbClr val="111827"/>
                </a:solidFill>
              </a:rPr>
              <a:t>(</a:t>
            </a:r>
            <a:r>
              <a:rPr lang="en-US" altLang="ko-KR" sz="1100" b="1" dirty="0" err="1" smtClean="0">
                <a:solidFill>
                  <a:srgbClr val="111827"/>
                </a:solidFill>
              </a:rPr>
              <a:t>OpenAI</a:t>
            </a:r>
            <a:r>
              <a:rPr lang="en-US" altLang="ko-KR" sz="1100" b="1" dirty="0" smtClean="0">
                <a:solidFill>
                  <a:srgbClr val="111827"/>
                </a:solidFill>
              </a:rPr>
              <a:t>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6432" y="178308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6B7280"/>
                </a:solidFill>
              </a:rPr>
              <a:t>FPS </a:t>
            </a:r>
            <a:r>
              <a:rPr lang="ko-KR" altLang="en-US" sz="1000" dirty="0" smtClean="0">
                <a:solidFill>
                  <a:srgbClr val="6B7280"/>
                </a:solidFill>
              </a:rPr>
              <a:t>값 설정</a:t>
            </a:r>
            <a:r>
              <a:rPr lang="en-US" altLang="ko-KR" sz="1000" dirty="0" smtClean="0">
                <a:solidFill>
                  <a:srgbClr val="6B7280"/>
                </a:solidFill>
              </a:rPr>
              <a:t>, </a:t>
            </a:r>
            <a:r>
              <a:rPr lang="en-US" sz="1000" dirty="0" err="1" smtClean="0">
                <a:solidFill>
                  <a:srgbClr val="6B7280"/>
                </a:solidFill>
              </a:rPr>
              <a:t>연속</a:t>
            </a:r>
            <a:r>
              <a:rPr lang="en-US" sz="1000" dirty="0" smtClean="0">
                <a:solidFill>
                  <a:srgbClr val="6B7280"/>
                </a:solidFill>
              </a:rPr>
              <a:t> </a:t>
            </a:r>
            <a:r>
              <a:rPr lang="en-US" sz="1000" dirty="0">
                <a:solidFill>
                  <a:srgbClr val="6B7280"/>
                </a:solidFill>
              </a:rPr>
              <a:t>프레임 차분값 비교로</a:t>
            </a:r>
            <a:endParaRPr lang="en-US" sz="1000" dirty="0"/>
          </a:p>
          <a:p>
            <a:pPr marL="0" indent="0">
              <a:buNone/>
            </a:pPr>
            <a:r>
              <a:rPr lang="ko-KR" altLang="en-US" sz="1000" dirty="0" smtClean="0">
                <a:solidFill>
                  <a:srgbClr val="6B7280"/>
                </a:solidFill>
              </a:rPr>
              <a:t>변화 없는 프레임 제거</a:t>
            </a:r>
            <a:r>
              <a:rPr lang="en-US" altLang="ko-KR" sz="1000" dirty="0">
                <a:solidFill>
                  <a:srgbClr val="6B7280"/>
                </a:solidFill>
              </a:rPr>
              <a:t> </a:t>
            </a:r>
            <a:r>
              <a:rPr lang="ko-KR" altLang="en-US" sz="1000" dirty="0" smtClean="0">
                <a:solidFill>
                  <a:srgbClr val="6B7280"/>
                </a:solidFill>
              </a:rPr>
              <a:t> 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1188720"/>
            <a:ext cx="26334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1188720"/>
            <a:ext cx="263347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64224" y="1353312"/>
            <a:ext cx="320040" cy="32004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64224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353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무음 구간 최소 길이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64224" y="178308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짧은 무음은 무시, 동적 임계값 이상의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긴 무음에만 모델 호출 (Case 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37944" y="3063240"/>
            <a:ext cx="26334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37944" y="3063240"/>
            <a:ext cx="263347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2002536" y="3227832"/>
            <a:ext cx="320040" cy="32004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2002536" y="3227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04872" y="32278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URL 기반 캐싱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02536" y="365760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최초 분석 후 결과 매핑 저장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동일 URL 재요청 시 즉시 반환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45736" y="3063240"/>
            <a:ext cx="26334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45736" y="3063240"/>
            <a:ext cx="263347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10328" y="3227832"/>
            <a:ext cx="320040" cy="32004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910328" y="3227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12664" y="32278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파일 즉시 삭제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0328" y="365760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분석 완료 후 영상·오디오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임시 파일 즉시 삭제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  PoC 검증 항목 및 향후 과제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822960"/>
            <a:ext cx="49834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22960"/>
            <a:ext cx="498348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822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주요 검증 항목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453896"/>
            <a:ext cx="5943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4538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정확성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16152" y="1417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A~D 분기 흐름의 정상 동작 여부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2002536"/>
            <a:ext cx="5943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0025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품질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16152" y="1965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원본 발화 대비 전사 누락률 측정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551176"/>
            <a:ext cx="5943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5511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활용성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16152" y="2514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추출 소스가 Content Studio 콘텐츠 재생산에 적합한지 확인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3099816"/>
            <a:ext cx="5943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9981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효율성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16152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smtClean="0">
                <a:solidFill>
                  <a:srgbClr val="1F2937"/>
                </a:solidFill>
              </a:rPr>
              <a:t>비용</a:t>
            </a:r>
            <a:r>
              <a:rPr lang="en-US" sz="1050" dirty="0" smtClean="0">
                <a:solidFill>
                  <a:srgbClr val="1F2937"/>
                </a:solidFill>
              </a:rPr>
              <a:t> </a:t>
            </a:r>
            <a:r>
              <a:rPr lang="en-US" sz="1050" dirty="0">
                <a:solidFill>
                  <a:srgbClr val="1F2937"/>
                </a:solidFill>
              </a:rPr>
              <a:t>및 레이턴시 측정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" y="3648456"/>
            <a:ext cx="5943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64845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비교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16152" y="3611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Gemini 단독 vs. STT/Vision 혼합 파이프라인 품질·비용·속도 비교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4197096"/>
            <a:ext cx="59436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4197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확장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16152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추가 모델 비교 측정 (검증 후 대안 탐색)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77840" y="822960"/>
            <a:ext cx="3264408" cy="40690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822960"/>
            <a:ext cx="3264408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8" name="Text 26"/>
          <p:cNvSpPr/>
          <p:nvPr/>
        </p:nvSpPr>
        <p:spPr>
          <a:xfrm>
            <a:off x="5724144" y="822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24144" y="1444752"/>
            <a:ext cx="299008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1536192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15361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62472" y="1517904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yt-dlp 대체 방안 탐색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62472" y="1792224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현재 설계가 yt-dlp에 의존적</a:t>
            </a:r>
            <a:endParaRPr lang="en-US" sz="950" dirty="0"/>
          </a:p>
          <a:p>
            <a:pPr marL="0" indent="0">
              <a:buNone/>
            </a:pPr>
            <a:r>
              <a:rPr lang="en-US" sz="950" dirty="0" smtClean="0">
                <a:solidFill>
                  <a:srgbClr val="6B7280"/>
                </a:solidFill>
              </a:rPr>
              <a:t>→ </a:t>
            </a:r>
            <a:r>
              <a:rPr lang="ko-KR" altLang="en-US" sz="950" dirty="0" smtClean="0">
                <a:solidFill>
                  <a:srgbClr val="6B7280"/>
                </a:solidFill>
              </a:rPr>
              <a:t>최선의 방안 같음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24144" y="2560320"/>
            <a:ext cx="299008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265176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0" y="2651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62472" y="2633472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VAD + 최신 STT 조합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62472" y="290779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VAD로 발화 구간 선별 후 최신 전사 모델 적용으로 품질·비용 최적화 테스트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24144" y="3675888"/>
            <a:ext cx="299008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3767328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5760720" y="37673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62472" y="3749040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Vision 모델 확장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62472" y="402336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GPT-4o-mini vs Gemini 2.0 Flash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실데이터 비교 후 추가 모델도 검토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" y="176022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Summary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7690" y="2229474"/>
            <a:ext cx="475488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2670048"/>
            <a:ext cx="457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42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STT 중심 설계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642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6B7280"/>
                </a:solidFill>
              </a:rPr>
              <a:t>발화</a:t>
            </a:r>
            <a:r>
              <a:rPr lang="en-US" sz="1100" dirty="0" smtClean="0">
                <a:solidFill>
                  <a:srgbClr val="6B7280"/>
                </a:solidFill>
              </a:rPr>
              <a:t> </a:t>
            </a:r>
            <a:r>
              <a:rPr lang="ko-KR" altLang="en-US" sz="1100" dirty="0" smtClean="0">
                <a:solidFill>
                  <a:srgbClr val="6B7280"/>
                </a:solidFill>
              </a:rPr>
              <a:t>내용이</a:t>
            </a:r>
            <a:r>
              <a:rPr lang="en-US" sz="1100" dirty="0" smtClean="0">
                <a:solidFill>
                  <a:srgbClr val="6B7280"/>
                </a:solidFill>
              </a:rPr>
              <a:t> </a:t>
            </a:r>
            <a:r>
              <a:rPr lang="en-US" sz="1100" dirty="0">
                <a:solidFill>
                  <a:srgbClr val="6B7280"/>
                </a:solidFill>
              </a:rPr>
              <a:t>핵심 소스 — 왜곡 없는 Raw 정보 보존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3200400"/>
            <a:ext cx="457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72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4-Way 케이스 분기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95728" y="3172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speech_ratio 기반으로 최적 경로 자동 선택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3730752"/>
            <a:ext cx="457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선택적 Vision 분석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95728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 smtClean="0">
                <a:solidFill>
                  <a:srgbClr val="6B7280"/>
                </a:solidFill>
              </a:rPr>
              <a:t>필요한 상황에만 </a:t>
            </a:r>
            <a:r>
              <a:rPr lang="en-US" altLang="ko-KR" sz="1100" dirty="0" smtClean="0">
                <a:solidFill>
                  <a:srgbClr val="6B7280"/>
                </a:solidFill>
              </a:rPr>
              <a:t>Vision </a:t>
            </a:r>
            <a:r>
              <a:rPr lang="ko-KR" altLang="en-US" sz="1100" dirty="0" smtClean="0">
                <a:solidFill>
                  <a:srgbClr val="6B7280"/>
                </a:solidFill>
              </a:rPr>
              <a:t>분석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4261104"/>
            <a:ext cx="457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233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PoC를 통한 검증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95728" y="4233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Gemini 단독 방식 대비 품질·비용·속도 다각도 측정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1046</Words>
  <Application>Microsoft Office PowerPoint</Application>
  <PresentationFormat>화면 슬라이드 쇼(16:9)</PresentationFormat>
  <Paragraphs>232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Source Extraction Pipeline PoC</dc:title>
  <dc:subject>PptxGenJS Presentation</dc:subject>
  <dc:creator>PptxGenJS</dc:creator>
  <cp:lastModifiedBy>SQI</cp:lastModifiedBy>
  <cp:revision>29</cp:revision>
  <dcterms:created xsi:type="dcterms:W3CDTF">2026-03-31T00:53:56Z</dcterms:created>
  <dcterms:modified xsi:type="dcterms:W3CDTF">2026-03-31T02:10:48Z</dcterms:modified>
</cp:coreProperties>
</file>